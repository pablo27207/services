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Sistema de Observación Oceanográfica</a:t>
            </a:r>
          </a:p>
          <a:p>
            <a:r>
              <a:t>Golfo San Jorge (OOGSJ)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699"/>
                </a:solidFill>
              </a:defRPr>
            </a:pPr>
            <a:r>
              <a:t>Monitoreo en Tiempo Real de Variables Oceanográficas y Meteorológicas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282828"/>
                </a:solidFill>
              </a:defRPr>
            </a:pPr>
            <a:r>
              <a:t>XII Jornadas Nacionales de Ciencias del 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82828"/>
                </a:solidFill>
              </a:defRPr>
            </a:pPr>
            <a:r>
              <a:t>Observatorio Oceanográfico Golfo San Jorge</a:t>
            </a:r>
          </a:p>
          <a:p>
            <a:r>
              <a:t>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Contexto: Golfo San Jorge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Región de alta productividad biológica en el Atlántico Sur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Zona de importancia económica: pesca, turismo, hidrocarburos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Ecosistema sensible a cambios ambientales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Necesidad de datos continuos para investigación y gestión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Escasez histórica de datos oceanográficos in situ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Problemática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Datos oceanográficos fragmentados y discontinuos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Falta de acceso centralizado a información en tiempo real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Dificultad para estudios de series temporales largas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Limitaciones en el monitoreo de eventos extremos</a:t>
            </a:r>
          </a:p>
          <a:p>
            <a:pPr>
              <a:spcBef>
                <a:spcPts val="1000"/>
              </a:spcBef>
              <a:defRPr sz="2000">
                <a:solidFill>
                  <a:srgbClr val="282828"/>
                </a:solidFill>
              </a:defRPr>
            </a:pPr>
            <a:r>
              <a:t>Necesidad de integrar múltiples fuentes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Objetivos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0099CC"/>
                </a:solidFill>
              </a:defRPr>
            </a:pPr>
            <a:r>
              <a:t>Objetivo General: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Desarrollar una plataforma integrada de monitoreo oceanográfico y meteorológico en tiempo real para el Golfo San Jorge</a:t>
            </a:r>
          </a:p>
          <a:p>
            <a:pPr>
              <a:defRPr sz="2200" b="1">
                <a:solidFill>
                  <a:srgbClr val="0099CC"/>
                </a:solidFill>
              </a:defRPr>
            </a:pPr>
            <a:r>
              <a:t>Objetivos Específicos: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Integrar datos de múltiples plataformas de monitoreo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Proporcionar acceso abierto a datos en tiempo real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Facilitar análisis de series temporales para investigación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Generar información para toma de decisiones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Plataformas de Monitoreo Integradas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0099CC"/>
                </a:solidFill>
              </a:defRPr>
            </a:pPr>
            <a:r>
              <a:t>Mareógrafo - Puerto Comodoro Rivadavia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Sensor: Valeport TideMaster</a:t>
            </a:r>
            <a:br/>
            <a:r>
              <a:t>• Variable: Nivel del mar</a:t>
            </a:r>
            <a:br/>
            <a:r>
              <a:t>• Frecuencia: 10 minutos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Boya Oceanográfica CIDMAR-2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Ubicación: 45.877°S, 67.442°W</a:t>
            </a:r>
            <a:br/>
            <a:r>
              <a:t>• Variables: Olas, corrientes, radiación PAR</a:t>
            </a:r>
            <a:br/>
            <a:r>
              <a:t>• Frecuencia: Horaria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Estaciones Meteorológicas (WeatherLink)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Puerto CR y Caleta Córdova</a:t>
            </a:r>
            <a:br/>
            <a:r>
              <a:t>• Variables: T, P, viento, precipitación, UV</a:t>
            </a:r>
            <a:br/>
            <a:r>
              <a:t>• Frecuencia: 10 minutos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Modelo de Predicción de Mareas</a:t>
            </a:r>
          </a:p>
          <a:p>
            <a:pPr>
              <a:spcAft>
                <a:spcPts val="800"/>
              </a:spcAft>
              <a:defRPr sz="1400">
                <a:solidFill>
                  <a:srgbClr val="282828"/>
                </a:solidFill>
              </a:defRPr>
            </a:pPr>
            <a:r>
              <a:t>• Servicio Hidrográfico Naval</a:t>
            </a:r>
            <a:br/>
            <a:r>
              <a:t>• Actualización: Cada 6 horas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Variables Oceanográficas Medidas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0099CC"/>
                </a:solidFill>
              </a:defRPr>
            </a:pPr>
            <a:r>
              <a:t>Altura de Olas (Metros (m))</a:t>
            </a:r>
          </a:p>
          <a:p>
            <a:pPr lvl="1"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  Fuente: Boya CIDMAR-2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Periodo de Olas (Segundos (s))</a:t>
            </a:r>
          </a:p>
          <a:p>
            <a:pPr lvl="1"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  Fuente: Boya CIDMAR-2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Dirección de Olas (Grados (°))</a:t>
            </a:r>
          </a:p>
          <a:p>
            <a:pPr lvl="1"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  Fuente: Boya CIDMAR-2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Velocidad de Corriente (m/s)</a:t>
            </a:r>
          </a:p>
          <a:p>
            <a:pPr lvl="1"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  Fuente: Boya CIDMAR-2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Dirección de Corriente (Grados (°))</a:t>
            </a:r>
          </a:p>
          <a:p>
            <a:pPr lvl="1"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  Fuente: Boya CIDMAR-2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Radiación PAR (µmol/m²/s)</a:t>
            </a:r>
          </a:p>
          <a:p>
            <a:pPr lvl="1"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  Fuente: Boya CIDMAR-2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Nivel del Mar (Metros (m))</a:t>
            </a:r>
          </a:p>
          <a:p>
            <a:pPr lvl="1">
              <a:spcAft>
                <a:spcPts val="500"/>
              </a:spcAft>
              <a:defRPr sz="1400">
                <a:solidFill>
                  <a:srgbClr val="282828"/>
                </a:solidFill>
              </a:defRPr>
            </a:pPr>
            <a:r>
              <a:t>  Fuente: Mareógrafo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Variables Meteorológicas Medidas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Temperatura del aire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Humedad relativa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Presión barométrica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Velocidad del viento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Dirección del viento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Precipitación acumulada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Tasa de precipitación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Punto de rocío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Índice de calor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Sensación térmica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Radiación solar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Índice UV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Evapotranspiración</a:t>
            </a:r>
          </a:p>
          <a:p>
            <a:pPr>
              <a:spcAft>
                <a:spcPts val="800"/>
              </a:spcAft>
              <a:defRPr sz="1600">
                <a:solidFill>
                  <a:srgbClr val="282828"/>
                </a:solidFill>
              </a:defRPr>
            </a:pPr>
            <a:r>
              <a:t>• Cobertura nubosa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Arquitectura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>
                <a:solidFill>
                  <a:srgbClr val="0099CC"/>
                </a:solidFill>
              </a:defRPr>
            </a:pPr>
            <a:r>
              <a:t>Flujo de Datos: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1. Adquisición: APIs externas y sensores remotos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2. Procesamiento: Validación y control de calidad (QC)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3. Almacenamiento: Base de datos PostgreSQL con estándares COI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4. Visualización: Interfaz web con gráficos interactivos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5. Acceso: API REST para consultas y exportación de datos</a:t>
            </a:r>
          </a:p>
          <a:p>
            <a:br/>
            <a:pPr>
              <a:defRPr sz="1600">
                <a:solidFill>
                  <a:srgbClr val="0099CC"/>
                </a:solidFill>
              </a:defRPr>
            </a:pPr>
            <a:r>
              <a:t>✓ Actualización automática programada</a:t>
            </a:r>
            <a:br/>
            <a:r>
              <a:t>✓ Sistema operativo 24/7</a:t>
            </a:r>
            <a:br/>
            <a:r>
              <a:t>✓ Datos abiertos y accesibles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Control de Calidad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 b="1">
                <a:solidFill>
                  <a:srgbClr val="0099CC"/>
                </a:solidFill>
              </a:defRPr>
            </a:pPr>
            <a:r>
              <a:t>Sistema de Quality Flags (según COI/UNESCO):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Flag 1: Dato verificado como bueno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Flag 2: Dato probablemente bueno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Flag 3: Dato sospechoso (requiere revisión)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Flag 4: Dato erróneo (descartado)</a:t>
            </a:r>
          </a:p>
          <a:p>
            <a:br/>
            <a:pPr>
              <a:spcAft>
                <a:spcPts val="1000"/>
              </a:spcAft>
              <a:defRPr sz="2000" b="1">
                <a:solidFill>
                  <a:srgbClr val="0099CC"/>
                </a:solidFill>
              </a:defRPr>
            </a:pPr>
            <a:r>
              <a:t>Niveles de Procesamiento: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Raw (crudo)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QC-1 (control básico)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QC-2 (control avanzado)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Interpolated</a:t>
            </a:r>
          </a:p>
          <a:p>
            <a:pPr lvl="1">
              <a:defRPr sz="1800">
                <a:solidFill>
                  <a:srgbClr val="282828"/>
                </a:solidFill>
              </a:defRPr>
            </a:pPr>
            <a:r>
              <a:t>Derived (calculado)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Interfaz de Visualización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>
                <a:solidFill>
                  <a:srgbClr val="0099CC"/>
                </a:solidFill>
              </a:defRPr>
            </a:pPr>
            <a:r>
              <a:t>Características de la Interfaz Web:</a:t>
            </a:r>
          </a:p>
          <a:p>
            <a:pPr lvl="1">
              <a:spcAft>
                <a:spcPts val="600"/>
              </a:spcAft>
              <a:defRPr sz="1700">
                <a:solidFill>
                  <a:srgbClr val="282828"/>
                </a:solidFill>
              </a:defRPr>
            </a:pPr>
            <a:r>
              <a:t>Gráficos interactivos de series temporales (D3.js)</a:t>
            </a:r>
          </a:p>
          <a:p>
            <a:pPr lvl="1">
              <a:spcAft>
                <a:spcPts val="600"/>
              </a:spcAft>
              <a:defRPr sz="1700">
                <a:solidFill>
                  <a:srgbClr val="282828"/>
                </a:solidFill>
              </a:defRPr>
            </a:pPr>
            <a:r>
              <a:t>Mapas georreferenciados con ubicación de plataformas (Leaflet)</a:t>
            </a:r>
          </a:p>
          <a:p>
            <a:pPr lvl="1">
              <a:spcAft>
                <a:spcPts val="600"/>
              </a:spcAft>
              <a:defRPr sz="1700">
                <a:solidFill>
                  <a:srgbClr val="282828"/>
                </a:solidFill>
              </a:defRPr>
            </a:pPr>
            <a:r>
              <a:t>Visualización de datos en tiempo real</a:t>
            </a:r>
          </a:p>
          <a:p>
            <a:pPr lvl="1">
              <a:spcAft>
                <a:spcPts val="600"/>
              </a:spcAft>
              <a:defRPr sz="1700">
                <a:solidFill>
                  <a:srgbClr val="282828"/>
                </a:solidFill>
              </a:defRPr>
            </a:pPr>
            <a:r>
              <a:t>Selección de rangos temporales personalizados</a:t>
            </a:r>
          </a:p>
          <a:p>
            <a:pPr lvl="1">
              <a:spcAft>
                <a:spcPts val="600"/>
              </a:spcAft>
              <a:defRPr sz="1700">
                <a:solidFill>
                  <a:srgbClr val="282828"/>
                </a:solidFill>
              </a:defRPr>
            </a:pPr>
            <a:r>
              <a:t>Exportación de datos (CSV, PDF)</a:t>
            </a:r>
          </a:p>
          <a:p>
            <a:pPr lvl="1">
              <a:spcAft>
                <a:spcPts val="600"/>
              </a:spcAft>
              <a:defRPr sz="1700">
                <a:solidFill>
                  <a:srgbClr val="282828"/>
                </a:solidFill>
              </a:defRPr>
            </a:pPr>
            <a:r>
              <a:t>Acceso desde cualquier dispositivo (responsive design)</a:t>
            </a:r>
          </a:p>
          <a:p>
            <a:pPr lvl="1">
              <a:spcAft>
                <a:spcPts val="600"/>
              </a:spcAft>
              <a:defRPr sz="1700">
                <a:solidFill>
                  <a:srgbClr val="282828"/>
                </a:solidFill>
              </a:defRPr>
            </a:pPr>
            <a:r>
              <a:t>Panel de estado de sensores y calidad de datos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Aplicaciones Científicas y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>
                <a:solidFill>
                  <a:srgbClr val="0099CC"/>
                </a:solidFill>
              </a:defRPr>
            </a:pPr>
            <a:r>
              <a:t>Investigación Oceanográfica</a:t>
            </a:r>
          </a:p>
          <a:p>
            <a:pPr lvl="1"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Análisis de variabilidad oceánica, circulación costera, interacción océano-atmósfera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Biología Marina</a:t>
            </a:r>
          </a:p>
          <a:p>
            <a:pPr lvl="1"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Correlación con distribución de especies, productividad primaria, eventos reproductivos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Gestión Pesquera</a:t>
            </a:r>
          </a:p>
          <a:p>
            <a:pPr lvl="1"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Monitoreo de condiciones ambientales en zonas de pesca, predicción de eventos extremos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Seguridad Marítima</a:t>
            </a:r>
          </a:p>
          <a:p>
            <a:pPr lvl="1"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Información en tiempo real para navegación, prevención de accidentes, planificación de operaciones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Cambio Climático</a:t>
            </a:r>
          </a:p>
          <a:p>
            <a:pPr lvl="1"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Series temporales largas para estudios de tendencias y variabilidad</a:t>
            </a:r>
          </a:p>
          <a:p>
            <a:pPr>
              <a:defRPr sz="1800" b="1">
                <a:solidFill>
                  <a:srgbClr val="0099CC"/>
                </a:solidFill>
              </a:defRPr>
            </a:pPr>
            <a:r>
              <a:t>Educación y Divulgación</a:t>
            </a:r>
          </a:p>
          <a:p>
            <a:pPr lvl="1"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Recurso educativo para instituciones académicas y público general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Estado Actual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>
                <a:solidFill>
                  <a:srgbClr val="0099CC"/>
                </a:solidFill>
              </a:defRPr>
            </a:pPr>
            <a:r>
              <a:t>Sistema Operativo: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✓ Sistema en operación continua 24/7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✓ 5 plataformas de monitoreo integradas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✓ 54 variables diferentes registradas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✓ Base de datos con series temporales desde 2023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✓ Interfaz web accesible públicamente</a:t>
            </a:r>
          </a:p>
          <a:p>
            <a:pPr>
              <a:spcAft>
                <a:spcPts val="1000"/>
              </a:spcAft>
              <a:defRPr sz="1800">
                <a:solidFill>
                  <a:srgbClr val="282828"/>
                </a:solidFill>
              </a:defRPr>
            </a:pPr>
            <a:r>
              <a:t>✓ Actualizaciones automáticas programadas</a:t>
            </a:r>
          </a:p>
          <a:p>
            <a:br/>
            <a:pPr algn="ctr">
              <a:defRPr sz="2000" i="1">
                <a:solidFill>
                  <a:srgbClr val="0099CC"/>
                </a:solidFill>
              </a:defRPr>
            </a:pPr>
            <a:r>
              <a:t>Datos disponibles para la comunidad científica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Trabajo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200" b="1">
                <a:solidFill>
                  <a:srgbClr val="0099CC"/>
                </a:solidFill>
              </a:defRPr>
            </a:pPr>
            <a:r>
              <a:t>Expansión y Mejoras Planificadas: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Incorporación de nuevas plataformas de monitoreo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Integración de datos satelitales (SST, clorofila, vientos)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Desarrollo de modelos predictivos (ML/IA)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Sistema de alertas automáticas para eventos extremos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API pública para acceso programático a datos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Colaboraciones con otras redes de monitoreo</a:t>
            </a:r>
          </a:p>
          <a:p>
            <a:pPr lvl="1"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Expansión de cobertura geográfica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1. El sistema OOGSJ proporciona una infraestructura robusta para el monitoreo oceanográfico del Golfo San Jorge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2. La integración de múltiples fuentes de datos permite una visión holística del ambiente marino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3. Los datos en tiempo real y las series temporales son fundamentales para investigación y gestión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4. El acceso abierto facilita colaboraciones y fortalece la investigación regional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5. El sistema es escalable y adaptable a futuras necesidades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Agradecimientos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CIDMAR - Centro de Investigación y Desarrollo en Medio Ambiente y Recursos Marinos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Servicio de Hidrografía Naval Argentina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Universidad Nacional de la Patagonia San Juan Bosco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Administración de Puertos del Puerto de Comodoro Rivadavia (APPCR)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A todos los investigadores y técnicos que contribuyen al monitoreo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99CC"/>
                </a:solidFill>
              </a:defRPr>
            </a:pPr>
            <a:r>
              <a:t>¿Preguntas?</a:t>
            </a:r>
          </a:p>
          <a:p>
            <a:r>
              <a:t>Contacto: [correo electrónico de contacto]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