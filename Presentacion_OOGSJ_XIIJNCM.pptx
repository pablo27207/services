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3366"/>
                </a:solidFill>
              </a:defRPr>
            </a:pPr>
            <a:r>
              <a:t>Plataforma Modular para Ingesta, Procesamiento y Visualización de Datos Oceanográficos y Meteorológicos en el Golfo San Jorge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82828"/>
                </a:solidFill>
              </a:defRPr>
            </a:pPr>
            <a:r>
              <a:t>Rosales Pablo¹, De Marziani Carlos¹'², Micheletto Matías², García Franco¹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282828"/>
                </a:solidFill>
              </a:defRPr>
            </a:pPr>
            <a:r>
              <a:t>¹ Facultad de Ingeniería, Universidad Nacional de la Patagonia San Juan Bosco</a:t>
            </a:r>
          </a:p>
          <a:p>
            <a:pPr algn="ctr">
              <a:defRPr sz="1200">
                <a:solidFill>
                  <a:srgbClr val="282828"/>
                </a:solidFill>
              </a:defRPr>
            </a:pPr>
            <a:r>
              <a:t>² Instituto Multidisciplinario para la Investigación y el Desarrollo Productivo y Social de la Cuenca Golfo San Jorge, CONICET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006699"/>
                </a:solidFill>
              </a:defRPr>
            </a:pPr>
            <a:r>
              <a:t>XII Jornadas Nacionales de Ciencias del 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264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82828"/>
                </a:solidFill>
              </a:defRPr>
            </a:pPr>
            <a:r>
              <a:t>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Red de Observación Marina Argentina (ROMA)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2200" b="1">
                <a:solidFill>
                  <a:srgbClr val="0099CC"/>
                </a:solidFill>
              </a:defRPr>
            </a:pPr>
            <a:r>
              <a:t>Contexto Institucional:</a:t>
            </a:r>
          </a:p>
          <a:p>
            <a:pPr lvl="1"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Iniciativa interinstitucional para monitoreo marino de largo plazo</a:t>
            </a:r>
          </a:p>
          <a:p>
            <a:pPr lvl="1"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Fortalecimiento de capacidades tecnológicas a nivel nacional</a:t>
            </a:r>
          </a:p>
          <a:p>
            <a:pPr lvl="1"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Consolidación de una red de datos oceanográficos interoperables</a:t>
            </a:r>
          </a:p>
          <a:p>
            <a:pPr lvl="1"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Articulación entre instituciones académicas y de investigación</a:t>
            </a:r>
          </a:p>
          <a:p>
            <a:pPr lvl="1"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Este trabajo contribuye a los objetivos de ROMA en la región del Golfo San Jorge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Contexto: Golfo San Jorge y Economía Azul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1000"/>
              </a:spcBef>
              <a:defRPr sz="2000">
                <a:solidFill>
                  <a:srgbClr val="282828"/>
                </a:solidFill>
              </a:defRPr>
            </a:pPr>
            <a:r>
              <a:t>Región de alta productividad biológica en el Atlántico Sur</a:t>
            </a:r>
          </a:p>
          <a:p>
            <a:pPr>
              <a:spcBef>
                <a:spcPts val="1000"/>
              </a:spcBef>
              <a:defRPr sz="2000">
                <a:solidFill>
                  <a:srgbClr val="282828"/>
                </a:solidFill>
              </a:defRPr>
            </a:pPr>
            <a:r>
              <a:t>Zona estratégica para la economía azul: pesca, turismo, hidrocarburos</a:t>
            </a:r>
          </a:p>
          <a:p>
            <a:pPr>
              <a:spcBef>
                <a:spcPts val="1000"/>
              </a:spcBef>
              <a:defRPr sz="2000">
                <a:solidFill>
                  <a:srgbClr val="282828"/>
                </a:solidFill>
              </a:defRPr>
            </a:pPr>
            <a:r>
              <a:t>Ecosistema sensible a cambios ambientales y climáticos</a:t>
            </a:r>
          </a:p>
          <a:p>
            <a:pPr>
              <a:spcBef>
                <a:spcPts val="1000"/>
              </a:spcBef>
              <a:defRPr sz="2000">
                <a:solidFill>
                  <a:srgbClr val="282828"/>
                </a:solidFill>
              </a:defRPr>
            </a:pPr>
            <a:r>
              <a:t>Necesidad de datos continuos para investigación y gestión sostenible</a:t>
            </a:r>
          </a:p>
          <a:p>
            <a:pPr>
              <a:spcBef>
                <a:spcPts val="1000"/>
              </a:spcBef>
              <a:defRPr sz="2000">
                <a:solidFill>
                  <a:srgbClr val="282828"/>
                </a:solidFill>
              </a:defRPr>
            </a:pPr>
            <a:r>
              <a:t>Escasez histórica de datos oceanográficos in situ de largo plazo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Desafíos en el Monitoreo Marino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1000"/>
              </a:spcBef>
              <a:defRPr sz="2000">
                <a:solidFill>
                  <a:srgbClr val="282828"/>
                </a:solidFill>
              </a:defRPr>
            </a:pPr>
            <a:r>
              <a:t>Datos oceanográficos fragmentados y discontinuos</a:t>
            </a:r>
          </a:p>
          <a:p>
            <a:pPr>
              <a:spcBef>
                <a:spcPts val="1000"/>
              </a:spcBef>
              <a:defRPr sz="2000">
                <a:solidFill>
                  <a:srgbClr val="282828"/>
                </a:solidFill>
              </a:defRPr>
            </a:pPr>
            <a:r>
              <a:t>Falta de integración eficiente entre múltiples fuentes</a:t>
            </a:r>
          </a:p>
          <a:p>
            <a:pPr>
              <a:spcBef>
                <a:spcPts val="1000"/>
              </a:spcBef>
              <a:defRPr sz="2000">
                <a:solidFill>
                  <a:srgbClr val="282828"/>
                </a:solidFill>
              </a:defRPr>
            </a:pPr>
            <a:r>
              <a:t>Dificultad para estudios de series temporales largas</a:t>
            </a:r>
          </a:p>
          <a:p>
            <a:pPr>
              <a:spcBef>
                <a:spcPts val="1000"/>
              </a:spcBef>
              <a:defRPr sz="2000">
                <a:solidFill>
                  <a:srgbClr val="282828"/>
                </a:solidFill>
              </a:defRPr>
            </a:pPr>
            <a:r>
              <a:t>Limitaciones en el acceso centralizado a información en tiempo real</a:t>
            </a:r>
          </a:p>
          <a:p>
            <a:pPr>
              <a:spcBef>
                <a:spcPts val="1000"/>
              </a:spcBef>
              <a:defRPr sz="2000">
                <a:solidFill>
                  <a:srgbClr val="282828"/>
                </a:solidFill>
              </a:defRPr>
            </a:pPr>
            <a:r>
              <a:t>Necesidad de trazabilidad y control de calidad estandarizado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Objetivos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 b="1">
                <a:solidFill>
                  <a:srgbClr val="0099CC"/>
                </a:solidFill>
              </a:defRPr>
            </a:pPr>
            <a:r>
              <a:t>Objetivo General:</a:t>
            </a:r>
          </a:p>
          <a:p>
            <a:pPr>
              <a:spcAft>
                <a:spcPts val="1500"/>
              </a:spcAft>
              <a:defRPr sz="1700">
                <a:solidFill>
                  <a:srgbClr val="282828"/>
                </a:solidFill>
              </a:defRPr>
            </a:pPr>
            <a:r>
              <a:t>Desarrollar una plataforma modular para la ingesta, almacenamiento, procesamiento y visualización de datos oceanográficos y meteorológicos en el Golfo San Jorge</a:t>
            </a:r>
          </a:p>
          <a:p>
            <a:pPr>
              <a:defRPr sz="2200" b="1">
                <a:solidFill>
                  <a:srgbClr val="0099CC"/>
                </a:solidFill>
              </a:defRPr>
            </a:pPr>
            <a:r>
              <a:t>Objetivos Específicos:</a:t>
            </a:r>
          </a:p>
          <a:p>
            <a:pPr lvl="1">
              <a:defRPr sz="1700">
                <a:solidFill>
                  <a:srgbClr val="282828"/>
                </a:solidFill>
              </a:defRPr>
            </a:pPr>
            <a:r>
              <a:t>Integrar datos de múltiples plataformas distribuidas</a:t>
            </a:r>
          </a:p>
          <a:p>
            <a:pPr lvl="1">
              <a:defRPr sz="1700">
                <a:solidFill>
                  <a:srgbClr val="282828"/>
                </a:solidFill>
              </a:defRPr>
            </a:pPr>
            <a:r>
              <a:t>Asegurar trazabilidad y control de calidad según estándares COI</a:t>
            </a:r>
          </a:p>
          <a:p>
            <a:pPr lvl="1">
              <a:defRPr sz="1700">
                <a:solidFill>
                  <a:srgbClr val="282828"/>
                </a:solidFill>
              </a:defRPr>
            </a:pPr>
            <a:r>
              <a:t>Proporcionar acceso abierto a datos en tiempo real</a:t>
            </a:r>
          </a:p>
          <a:p>
            <a:pPr lvl="1">
              <a:defRPr sz="1700">
                <a:solidFill>
                  <a:srgbClr val="282828"/>
                </a:solidFill>
              </a:defRPr>
            </a:pPr>
            <a:r>
              <a:t>Respaldar políticas de desarrollo sostenible en zonas costeras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Plataformas de Monitoreo Integradas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 b="1">
                <a:solidFill>
                  <a:srgbClr val="0099CC"/>
                </a:solidFill>
              </a:defRPr>
            </a:pPr>
            <a:r>
              <a:t>Estaciones Meteorológicas Davis</a:t>
            </a:r>
          </a:p>
          <a:p>
            <a:pPr>
              <a:spcAft>
                <a:spcPts val="600"/>
              </a:spcAft>
              <a:defRPr sz="1400">
                <a:solidFill>
                  <a:srgbClr val="282828"/>
                </a:solidFill>
              </a:defRPr>
            </a:pPr>
            <a:r>
              <a:t>• Puerto CR y Caleta Córdova (APPCR)</a:t>
            </a:r>
            <a:br/>
            <a:r>
              <a:t>• Variables: T, P, viento, precipitación, UV</a:t>
            </a:r>
            <a:br/>
            <a:r>
              <a:t>• Frecuencia: 10 minutos</a:t>
            </a:r>
          </a:p>
          <a:p>
            <a:pPr>
              <a:defRPr sz="1700" b="1">
                <a:solidFill>
                  <a:srgbClr val="0099CC"/>
                </a:solidFill>
              </a:defRPr>
            </a:pPr>
            <a:r>
              <a:t>Mareógrafo - Puerto Comodoro Rivadavia</a:t>
            </a:r>
          </a:p>
          <a:p>
            <a:pPr>
              <a:spcAft>
                <a:spcPts val="600"/>
              </a:spcAft>
              <a:defRPr sz="1400">
                <a:solidFill>
                  <a:srgbClr val="282828"/>
                </a:solidFill>
              </a:defRPr>
            </a:pPr>
            <a:r>
              <a:t>• Sensor: Valeport TideMaster</a:t>
            </a:r>
            <a:br/>
            <a:r>
              <a:t>• Variable: Nivel del mar</a:t>
            </a:r>
            <a:br/>
            <a:r>
              <a:t>• Frecuencia: 10 minutos</a:t>
            </a:r>
          </a:p>
          <a:p>
            <a:pPr>
              <a:defRPr sz="1700" b="1">
                <a:solidFill>
                  <a:srgbClr val="0099CC"/>
                </a:solidFill>
              </a:defRPr>
            </a:pPr>
            <a:r>
              <a:t>Boya Oceanográfica CIDMAR-2</a:t>
            </a:r>
          </a:p>
          <a:p>
            <a:pPr>
              <a:spcAft>
                <a:spcPts val="600"/>
              </a:spcAft>
              <a:defRPr sz="1400">
                <a:solidFill>
                  <a:srgbClr val="282828"/>
                </a:solidFill>
              </a:defRPr>
            </a:pPr>
            <a:r>
              <a:t>• Ubicación: 45.877°S, 67.442°W</a:t>
            </a:r>
            <a:br/>
            <a:r>
              <a:t>• Variables: Olas, corrientes, radiación PAR</a:t>
            </a:r>
            <a:br/>
            <a:r>
              <a:t>• Frecuencia: Horaria</a:t>
            </a:r>
          </a:p>
          <a:p>
            <a:pPr>
              <a:defRPr sz="1700" b="1">
                <a:solidFill>
                  <a:srgbClr val="0099CC"/>
                </a:solidFill>
              </a:defRPr>
            </a:pPr>
            <a:r>
              <a:t>Modelo de Predicción de Mareas</a:t>
            </a:r>
          </a:p>
          <a:p>
            <a:pPr>
              <a:spcAft>
                <a:spcPts val="600"/>
              </a:spcAft>
              <a:defRPr sz="1400">
                <a:solidFill>
                  <a:srgbClr val="282828"/>
                </a:solidFill>
              </a:defRPr>
            </a:pPr>
            <a:r>
              <a:t>• Servicio Hidrográfico Naval</a:t>
            </a:r>
            <a:br/>
            <a:r>
              <a:t>• Actualización: Cada 6 horas</a:t>
            </a:r>
          </a:p>
          <a:p>
            <a:br/>
            <a:pPr>
              <a:defRPr sz="1200" i="1">
                <a:solidFill>
                  <a:srgbClr val="006699"/>
                </a:solidFill>
              </a:defRPr>
            </a:pPr>
            <a:r>
              <a:t>* Datos adquiridos mediante APIs provistas por IADO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Variables Oceanográficas Medidas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 b="1">
                <a:solidFill>
                  <a:srgbClr val="0099CC"/>
                </a:solidFill>
              </a:defRPr>
            </a:pPr>
            <a:r>
              <a:t>Altura de Olas (m)</a:t>
            </a:r>
          </a:p>
          <a:p>
            <a:pPr lvl="1">
              <a:spcAft>
                <a:spcPts val="400"/>
              </a:spcAft>
              <a:defRPr sz="1400">
                <a:solidFill>
                  <a:srgbClr val="282828"/>
                </a:solidFill>
              </a:defRPr>
            </a:pPr>
            <a:r>
              <a:t>  Fuente: Boya CIDMAR-2</a:t>
            </a:r>
          </a:p>
          <a:p>
            <a:pPr>
              <a:defRPr sz="1800" b="1">
                <a:solidFill>
                  <a:srgbClr val="0099CC"/>
                </a:solidFill>
              </a:defRPr>
            </a:pPr>
            <a:r>
              <a:t>Periodo de Olas (s)</a:t>
            </a:r>
          </a:p>
          <a:p>
            <a:pPr lvl="1">
              <a:spcAft>
                <a:spcPts val="400"/>
              </a:spcAft>
              <a:defRPr sz="1400">
                <a:solidFill>
                  <a:srgbClr val="282828"/>
                </a:solidFill>
              </a:defRPr>
            </a:pPr>
            <a:r>
              <a:t>  Fuente: Boya CIDMAR-2</a:t>
            </a:r>
          </a:p>
          <a:p>
            <a:pPr>
              <a:defRPr sz="1800" b="1">
                <a:solidFill>
                  <a:srgbClr val="0099CC"/>
                </a:solidFill>
              </a:defRPr>
            </a:pPr>
            <a:r>
              <a:t>Dirección de Olas (°)</a:t>
            </a:r>
          </a:p>
          <a:p>
            <a:pPr lvl="1">
              <a:spcAft>
                <a:spcPts val="400"/>
              </a:spcAft>
              <a:defRPr sz="1400">
                <a:solidFill>
                  <a:srgbClr val="282828"/>
                </a:solidFill>
              </a:defRPr>
            </a:pPr>
            <a:r>
              <a:t>  Fuente: Boya CIDMAR-2</a:t>
            </a:r>
          </a:p>
          <a:p>
            <a:pPr>
              <a:defRPr sz="1800" b="1">
                <a:solidFill>
                  <a:srgbClr val="0099CC"/>
                </a:solidFill>
              </a:defRPr>
            </a:pPr>
            <a:r>
              <a:t>Velocidad de Corriente (m/s)</a:t>
            </a:r>
          </a:p>
          <a:p>
            <a:pPr lvl="1">
              <a:spcAft>
                <a:spcPts val="400"/>
              </a:spcAft>
              <a:defRPr sz="1400">
                <a:solidFill>
                  <a:srgbClr val="282828"/>
                </a:solidFill>
              </a:defRPr>
            </a:pPr>
            <a:r>
              <a:t>  Fuente: Boya CIDMAR-2</a:t>
            </a:r>
          </a:p>
          <a:p>
            <a:pPr>
              <a:defRPr sz="1800" b="1">
                <a:solidFill>
                  <a:srgbClr val="0099CC"/>
                </a:solidFill>
              </a:defRPr>
            </a:pPr>
            <a:r>
              <a:t>Dirección de Corriente (°)</a:t>
            </a:r>
          </a:p>
          <a:p>
            <a:pPr lvl="1">
              <a:spcAft>
                <a:spcPts val="400"/>
              </a:spcAft>
              <a:defRPr sz="1400">
                <a:solidFill>
                  <a:srgbClr val="282828"/>
                </a:solidFill>
              </a:defRPr>
            </a:pPr>
            <a:r>
              <a:t>  Fuente: Boya CIDMAR-2</a:t>
            </a:r>
          </a:p>
          <a:p>
            <a:pPr>
              <a:defRPr sz="1800" b="1">
                <a:solidFill>
                  <a:srgbClr val="0099CC"/>
                </a:solidFill>
              </a:defRPr>
            </a:pPr>
            <a:r>
              <a:t>Radiación PAR (µmol/m²/s)</a:t>
            </a:r>
          </a:p>
          <a:p>
            <a:pPr lvl="1">
              <a:spcAft>
                <a:spcPts val="400"/>
              </a:spcAft>
              <a:defRPr sz="1400">
                <a:solidFill>
                  <a:srgbClr val="282828"/>
                </a:solidFill>
              </a:defRPr>
            </a:pPr>
            <a:r>
              <a:t>  Fuente: Boya CIDMAR-2</a:t>
            </a:r>
          </a:p>
          <a:p>
            <a:pPr>
              <a:defRPr sz="1800" b="1">
                <a:solidFill>
                  <a:srgbClr val="0099CC"/>
                </a:solidFill>
              </a:defRPr>
            </a:pPr>
            <a:r>
              <a:t>Nivel del Mar (m)</a:t>
            </a:r>
          </a:p>
          <a:p>
            <a:pPr lvl="1">
              <a:spcAft>
                <a:spcPts val="400"/>
              </a:spcAft>
              <a:defRPr sz="1400">
                <a:solidFill>
                  <a:srgbClr val="282828"/>
                </a:solidFill>
              </a:defRPr>
            </a:pPr>
            <a:r>
              <a:t>  Fuente: Mareógrafo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Variables Meteorológicas Medidas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Temperatura del aire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Humedad relativa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Presión barométrica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Velocidad del viento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Dirección del viento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Precipitación acumulada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Tasa de precipitación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Punto de rocío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Índice de calor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Sensación térmica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Radiación solar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Índice UV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Evapotranspiración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Cobertura nubosa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Arquitectura Modular del Sistema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2200" b="1">
                <a:solidFill>
                  <a:srgbClr val="0099CC"/>
                </a:solidFill>
              </a:defRPr>
            </a:pPr>
            <a:r>
              <a:t>Componentes Principales:</a:t>
            </a:r>
          </a:p>
          <a:p>
            <a:pPr lvl="1"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Contenedores Docker: Arquitectura modular y portable</a:t>
            </a:r>
          </a:p>
          <a:p>
            <a:pPr lvl="1"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Tareas asíncronas con Celery: Procesamiento distribuido</a:t>
            </a:r>
          </a:p>
          <a:p>
            <a:pPr lvl="1"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PostgreSQL: Base de datos con esquema orientado a metadatos</a:t>
            </a:r>
          </a:p>
          <a:p>
            <a:pPr lvl="1"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Control de calidad según normativa COI</a:t>
            </a:r>
          </a:p>
          <a:p>
            <a:pPr lvl="1"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Frontend web: Dashboard de control y visualización</a:t>
            </a:r>
          </a:p>
          <a:p>
            <a:br/>
            <a:pPr>
              <a:defRPr sz="1600">
                <a:solidFill>
                  <a:srgbClr val="0099CC"/>
                </a:solidFill>
              </a:defRPr>
            </a:pPr>
            <a:r>
              <a:t>✓ Diseño abierto y replicable</a:t>
            </a:r>
            <a:br/>
            <a:r>
              <a:t>✓ Sistema operativo 24/7</a:t>
            </a:r>
            <a:br/>
            <a:r>
              <a:t>✓ Actualización automática programada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Flujo de Ingesta y Procesamiento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 b="1">
                <a:solidFill>
                  <a:srgbClr val="0099CC"/>
                </a:solidFill>
              </a:defRPr>
            </a:pPr>
            <a:r>
              <a:t>1. Adquisición automática</a:t>
            </a:r>
          </a:p>
          <a:p>
            <a:pPr lvl="1"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APIs externas (IADO, WeatherLink, SHN)</a:t>
            </a:r>
          </a:p>
          <a:p>
            <a:pPr>
              <a:defRPr sz="1800" b="1">
                <a:solidFill>
                  <a:srgbClr val="0099CC"/>
                </a:solidFill>
              </a:defRPr>
            </a:pPr>
            <a:r>
              <a:t>2. Ingesta con Celery</a:t>
            </a:r>
          </a:p>
          <a:p>
            <a:pPr lvl="1"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Tareas programadas y distribuidas</a:t>
            </a:r>
          </a:p>
          <a:p>
            <a:pPr>
              <a:defRPr sz="1800" b="1">
                <a:solidFill>
                  <a:srgbClr val="0099CC"/>
                </a:solidFill>
              </a:defRPr>
            </a:pPr>
            <a:r>
              <a:t>3. Control de calidad</a:t>
            </a:r>
          </a:p>
          <a:p>
            <a:pPr lvl="1"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Validación según estándares COI</a:t>
            </a:r>
          </a:p>
          <a:p>
            <a:pPr>
              <a:defRPr sz="1800" b="1">
                <a:solidFill>
                  <a:srgbClr val="0099CC"/>
                </a:solidFill>
              </a:defRPr>
            </a:pPr>
            <a:r>
              <a:t>4. Almacenamiento</a:t>
            </a:r>
          </a:p>
          <a:p>
            <a:pPr lvl="1"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PostgreSQL con metadatos y trazabilidad</a:t>
            </a:r>
          </a:p>
          <a:p>
            <a:pPr>
              <a:defRPr sz="1800" b="1">
                <a:solidFill>
                  <a:srgbClr val="0099CC"/>
                </a:solidFill>
              </a:defRPr>
            </a:pPr>
            <a:r>
              <a:t>5. Procesamiento</a:t>
            </a:r>
          </a:p>
          <a:p>
            <a:pPr lvl="1"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Niveles: crudo → calibrado → derivado</a:t>
            </a:r>
          </a:p>
          <a:p>
            <a:pPr>
              <a:defRPr sz="1800" b="1">
                <a:solidFill>
                  <a:srgbClr val="0099CC"/>
                </a:solidFill>
              </a:defRPr>
            </a:pPr>
            <a:r>
              <a:t>6. Visualización</a:t>
            </a:r>
          </a:p>
          <a:p>
            <a:pPr lvl="1"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Dashboard web en tiempo real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Control de Calidad y Trazabilidad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2000" b="1">
                <a:solidFill>
                  <a:srgbClr val="0099CC"/>
                </a:solidFill>
              </a:defRPr>
            </a:pPr>
            <a:r>
              <a:t>Quality Flags (según COI/UNESCO):</a:t>
            </a:r>
          </a:p>
          <a:p>
            <a:pPr lvl="1">
              <a:spcAft>
                <a:spcPts val="600"/>
              </a:spcAft>
              <a:defRPr sz="1700">
                <a:solidFill>
                  <a:srgbClr val="282828"/>
                </a:solidFill>
              </a:defRPr>
            </a:pPr>
            <a:r>
              <a:t>Flag 1: Dato verificado como bueno</a:t>
            </a:r>
          </a:p>
          <a:p>
            <a:pPr lvl="1">
              <a:spcAft>
                <a:spcPts val="600"/>
              </a:spcAft>
              <a:defRPr sz="1700">
                <a:solidFill>
                  <a:srgbClr val="282828"/>
                </a:solidFill>
              </a:defRPr>
            </a:pPr>
            <a:r>
              <a:t>Flag 2: Dato probablemente bueno</a:t>
            </a:r>
          </a:p>
          <a:p>
            <a:pPr lvl="1">
              <a:spcAft>
                <a:spcPts val="600"/>
              </a:spcAft>
              <a:defRPr sz="1700">
                <a:solidFill>
                  <a:srgbClr val="282828"/>
                </a:solidFill>
              </a:defRPr>
            </a:pPr>
            <a:r>
              <a:t>Flag 3: Dato sospechoso (requiere revisión)</a:t>
            </a:r>
          </a:p>
          <a:p>
            <a:pPr lvl="1">
              <a:spcAft>
                <a:spcPts val="600"/>
              </a:spcAft>
              <a:defRPr sz="1700">
                <a:solidFill>
                  <a:srgbClr val="282828"/>
                </a:solidFill>
              </a:defRPr>
            </a:pPr>
            <a:r>
              <a:t>Flag 4: Dato erróneo (descartado)</a:t>
            </a:r>
          </a:p>
          <a:p>
            <a:br/>
            <a:pPr>
              <a:spcAft>
                <a:spcPts val="1000"/>
              </a:spcAft>
              <a:defRPr sz="2000" b="1">
                <a:solidFill>
                  <a:srgbClr val="0099CC"/>
                </a:solidFill>
              </a:defRPr>
            </a:pPr>
            <a:r>
              <a:t>Niveles de Procesamiento:</a:t>
            </a:r>
          </a:p>
          <a:p>
            <a:pPr lvl="1">
              <a:spcAft>
                <a:spcPts val="400"/>
              </a:spcAft>
              <a:defRPr sz="1700">
                <a:solidFill>
                  <a:srgbClr val="282828"/>
                </a:solidFill>
              </a:defRPr>
            </a:pPr>
            <a:r>
              <a:t>Raw (crudo)</a:t>
            </a:r>
          </a:p>
          <a:p>
            <a:pPr lvl="1">
              <a:spcAft>
                <a:spcPts val="400"/>
              </a:spcAft>
              <a:defRPr sz="1700">
                <a:solidFill>
                  <a:srgbClr val="282828"/>
                </a:solidFill>
              </a:defRPr>
            </a:pPr>
            <a:r>
              <a:t>QC-1 (control básico)</a:t>
            </a:r>
          </a:p>
          <a:p>
            <a:pPr lvl="1">
              <a:spcAft>
                <a:spcPts val="400"/>
              </a:spcAft>
              <a:defRPr sz="1700">
                <a:solidFill>
                  <a:srgbClr val="282828"/>
                </a:solidFill>
              </a:defRPr>
            </a:pPr>
            <a:r>
              <a:t>QC-2 (control avanzado)</a:t>
            </a:r>
          </a:p>
          <a:p>
            <a:pPr lvl="1">
              <a:spcAft>
                <a:spcPts val="400"/>
              </a:spcAft>
              <a:defRPr sz="1700">
                <a:solidFill>
                  <a:srgbClr val="282828"/>
                </a:solidFill>
              </a:defRPr>
            </a:pPr>
            <a:r>
              <a:t>Interpolated</a:t>
            </a:r>
          </a:p>
          <a:p>
            <a:pPr lvl="1">
              <a:spcAft>
                <a:spcPts val="400"/>
              </a:spcAft>
              <a:defRPr sz="1700">
                <a:solidFill>
                  <a:srgbClr val="282828"/>
                </a:solidFill>
              </a:defRPr>
            </a:pPr>
            <a:r>
              <a:t>Derived (calculado)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Dashboard de Visualización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2200" b="1">
                <a:solidFill>
                  <a:srgbClr val="0099CC"/>
                </a:solidFill>
              </a:defRPr>
            </a:pPr>
            <a:r>
              <a:t>Características del Dashboard:</a:t>
            </a:r>
          </a:p>
          <a:p>
            <a:pPr lvl="1">
              <a:spcAft>
                <a:spcPts val="600"/>
              </a:spcAft>
              <a:defRPr sz="1600">
                <a:solidFill>
                  <a:srgbClr val="282828"/>
                </a:solidFill>
              </a:defRPr>
            </a:pPr>
            <a:r>
              <a:t>Gráficos interactivos de series temporales (D3.js)</a:t>
            </a:r>
          </a:p>
          <a:p>
            <a:pPr lvl="1">
              <a:spcAft>
                <a:spcPts val="600"/>
              </a:spcAft>
              <a:defRPr sz="1600">
                <a:solidFill>
                  <a:srgbClr val="282828"/>
                </a:solidFill>
              </a:defRPr>
            </a:pPr>
            <a:r>
              <a:t>Mapas dinámicos con ubicación de plataformas (Leaflet + Anime.js)</a:t>
            </a:r>
          </a:p>
          <a:p>
            <a:pPr lvl="1">
              <a:spcAft>
                <a:spcPts val="600"/>
              </a:spcAft>
              <a:defRPr sz="1600">
                <a:solidFill>
                  <a:srgbClr val="282828"/>
                </a:solidFill>
              </a:defRPr>
            </a:pPr>
            <a:r>
              <a:t>Visualización de datos en tiempo real</a:t>
            </a:r>
          </a:p>
          <a:p>
            <a:pPr lvl="1">
              <a:spcAft>
                <a:spcPts val="600"/>
              </a:spcAft>
              <a:defRPr sz="1600">
                <a:solidFill>
                  <a:srgbClr val="282828"/>
                </a:solidFill>
              </a:defRPr>
            </a:pPr>
            <a:r>
              <a:t>Panel de supervisión del estado del sistema e ingesta</a:t>
            </a:r>
          </a:p>
          <a:p>
            <a:pPr lvl="1">
              <a:spcAft>
                <a:spcPts val="600"/>
              </a:spcAft>
              <a:defRPr sz="1600">
                <a:solidFill>
                  <a:srgbClr val="282828"/>
                </a:solidFill>
              </a:defRPr>
            </a:pPr>
            <a:r>
              <a:t>Exploración de atributos técnicos y metadatos</a:t>
            </a:r>
          </a:p>
          <a:p>
            <a:pPr lvl="1">
              <a:spcAft>
                <a:spcPts val="600"/>
              </a:spcAft>
              <a:defRPr sz="1600">
                <a:solidFill>
                  <a:srgbClr val="282828"/>
                </a:solidFill>
              </a:defRPr>
            </a:pPr>
            <a:r>
              <a:t>Exportación de datos (CSV, PDF)</a:t>
            </a:r>
          </a:p>
          <a:p>
            <a:pPr lvl="1">
              <a:spcAft>
                <a:spcPts val="600"/>
              </a:spcAft>
              <a:defRPr sz="1600">
                <a:solidFill>
                  <a:srgbClr val="282828"/>
                </a:solidFill>
              </a:defRPr>
            </a:pPr>
            <a:r>
              <a:t>Acceso desde cualquier dispositivo (responsive design)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Aplicaciones Científicas y Prácticas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 b="1">
                <a:solidFill>
                  <a:srgbClr val="0099CC"/>
                </a:solidFill>
              </a:defRPr>
            </a:pPr>
            <a:r>
              <a:t>Oceanografía Operativa</a:t>
            </a:r>
          </a:p>
          <a:p>
            <a:pPr lvl="1">
              <a:spcAft>
                <a:spcPts val="500"/>
              </a:spcAft>
              <a:defRPr sz="1400">
                <a:solidFill>
                  <a:srgbClr val="282828"/>
                </a:solidFill>
              </a:defRPr>
            </a:pPr>
            <a:r>
              <a:t>Monitoreo continuo, predicción de eventos, circulación costera</a:t>
            </a:r>
          </a:p>
          <a:p>
            <a:pPr>
              <a:defRPr sz="1700" b="1">
                <a:solidFill>
                  <a:srgbClr val="0099CC"/>
                </a:solidFill>
              </a:defRPr>
            </a:pPr>
            <a:r>
              <a:t>Biología Marina</a:t>
            </a:r>
          </a:p>
          <a:p>
            <a:pPr lvl="1">
              <a:spcAft>
                <a:spcPts val="500"/>
              </a:spcAft>
              <a:defRPr sz="1400">
                <a:solidFill>
                  <a:srgbClr val="282828"/>
                </a:solidFill>
              </a:defRPr>
            </a:pPr>
            <a:r>
              <a:t>Correlación con distribución de especies, productividad primaria</a:t>
            </a:r>
          </a:p>
          <a:p>
            <a:pPr>
              <a:defRPr sz="1700" b="1">
                <a:solidFill>
                  <a:srgbClr val="0099CC"/>
                </a:solidFill>
              </a:defRPr>
            </a:pPr>
            <a:r>
              <a:t>Economía Azul</a:t>
            </a:r>
          </a:p>
          <a:p>
            <a:pPr lvl="1">
              <a:spcAft>
                <a:spcPts val="500"/>
              </a:spcAft>
              <a:defRPr sz="1400">
                <a:solidFill>
                  <a:srgbClr val="282828"/>
                </a:solidFill>
              </a:defRPr>
            </a:pPr>
            <a:r>
              <a:t>Información para pesca, turismo, navegación, gestión sostenible</a:t>
            </a:r>
          </a:p>
          <a:p>
            <a:pPr>
              <a:defRPr sz="1700" b="1">
                <a:solidFill>
                  <a:srgbClr val="0099CC"/>
                </a:solidFill>
              </a:defRPr>
            </a:pPr>
            <a:r>
              <a:t>Cambio Climático</a:t>
            </a:r>
          </a:p>
          <a:p>
            <a:pPr lvl="1">
              <a:spcAft>
                <a:spcPts val="500"/>
              </a:spcAft>
              <a:defRPr sz="1400">
                <a:solidFill>
                  <a:srgbClr val="282828"/>
                </a:solidFill>
              </a:defRPr>
            </a:pPr>
            <a:r>
              <a:t>Series temporales largas para estudios de tendencias</a:t>
            </a:r>
          </a:p>
          <a:p>
            <a:pPr>
              <a:defRPr sz="1700" b="1">
                <a:solidFill>
                  <a:srgbClr val="0099CC"/>
                </a:solidFill>
              </a:defRPr>
            </a:pPr>
            <a:r>
              <a:t>Seguridad Marítima</a:t>
            </a:r>
          </a:p>
          <a:p>
            <a:pPr lvl="1">
              <a:spcAft>
                <a:spcPts val="500"/>
              </a:spcAft>
              <a:defRPr sz="1400">
                <a:solidFill>
                  <a:srgbClr val="282828"/>
                </a:solidFill>
              </a:defRPr>
            </a:pPr>
            <a:r>
              <a:t>Prevención de accidentes, planificación de operaciones</a:t>
            </a:r>
          </a:p>
          <a:p>
            <a:pPr>
              <a:defRPr sz="1700" b="1">
                <a:solidFill>
                  <a:srgbClr val="0099CC"/>
                </a:solidFill>
              </a:defRPr>
            </a:pPr>
            <a:r>
              <a:t>Educación y Divulgación</a:t>
            </a:r>
          </a:p>
          <a:p>
            <a:pPr lvl="1">
              <a:spcAft>
                <a:spcPts val="500"/>
              </a:spcAft>
              <a:defRPr sz="1400">
                <a:solidFill>
                  <a:srgbClr val="282828"/>
                </a:solidFill>
              </a:defRPr>
            </a:pPr>
            <a:r>
              <a:t>Recurso educativo para instituciones académicas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Estado Actual del Sistema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2200" b="1">
                <a:solidFill>
                  <a:srgbClr val="0099CC"/>
                </a:solidFill>
              </a:defRPr>
            </a:pPr>
            <a:r>
              <a:t>Sistema Operativo: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✓ Sistema en operación continua 24/7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✓ 5 plataformas de monitoreo integradas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✓ 54 variables diferentes registradas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✓ Base de datos con series temporales desde 2023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✓ Dashboard web accesible públicamente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✓ Actualizaciones automáticas programadas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✓ Datos abiertos para la comunidad científica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Conclusiones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700">
                <a:solidFill>
                  <a:srgbClr val="282828"/>
                </a:solidFill>
              </a:defRPr>
            </a:pPr>
            <a:r>
              <a:t>1. La plataforma modular proporciona una infraestructura robusta y replicable para el monitoreo oceanográfico</a:t>
            </a:r>
          </a:p>
          <a:p>
            <a:pPr>
              <a:spcAft>
                <a:spcPts val="1000"/>
              </a:spcAft>
              <a:defRPr sz="1700">
                <a:solidFill>
                  <a:srgbClr val="282828"/>
                </a:solidFill>
              </a:defRPr>
            </a:pPr>
            <a:r>
              <a:t>2. La integración eficiente de múltiples fuentes de datos permite una visión holística del ambiente marino</a:t>
            </a:r>
          </a:p>
          <a:p>
            <a:pPr>
              <a:spcAft>
                <a:spcPts val="1000"/>
              </a:spcAft>
              <a:defRPr sz="1700">
                <a:solidFill>
                  <a:srgbClr val="282828"/>
                </a:solidFill>
              </a:defRPr>
            </a:pPr>
            <a:r>
              <a:t>3. El control de calidad según estándares COI asegura trazabilidad y consistencia de las observaciones</a:t>
            </a:r>
          </a:p>
          <a:p>
            <a:pPr>
              <a:spcAft>
                <a:spcPts val="1000"/>
              </a:spcAft>
              <a:defRPr sz="1700">
                <a:solidFill>
                  <a:srgbClr val="282828"/>
                </a:solidFill>
              </a:defRPr>
            </a:pPr>
            <a:r>
              <a:t>4. El acceso abierto a datos en tiempo real fortalece la investigación y la toma de decisiones</a:t>
            </a:r>
          </a:p>
          <a:p>
            <a:pPr>
              <a:spcAft>
                <a:spcPts val="1000"/>
              </a:spcAft>
              <a:defRPr sz="1700">
                <a:solidFill>
                  <a:srgbClr val="282828"/>
                </a:solidFill>
              </a:defRPr>
            </a:pPr>
            <a:r>
              <a:t>5. La arquitectura contribuye a los objetivos de ROMA y respalda políticas de desarrollo sostenible en zonas costeras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Red de Observación Marina Argentina (ROMA)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Instituto Argentino de Oceanografía (IADO)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CIDMAR - Centro de Investigación y Desarrollo en Medio Ambiente y Recursos Marinos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Servicio de Hidrografía Naval Argentina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Universidad Nacional de la Patagonia San Juan Bosco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Administración de Puertos del Puerto de Comodoro Rivadavia (APPCR)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CONICET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• A todos los investigadores y técnicos que contribuyen al monitoreo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7607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99CC"/>
                </a:solidFill>
              </a:defRPr>
            </a:pPr>
            <a:r>
              <a:t>¿Preguntas?</a:t>
            </a:r>
          </a:p>
          <a:p>
            <a:r>
              <a:t>Contacto: prosales@unpata.edu.ar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